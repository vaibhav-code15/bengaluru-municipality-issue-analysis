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121687699996405"/>
          <c:y val="3.883673194696817E-2"/>
          <c:w val="0.59659212119033067"/>
          <c:h val="0.8375235547479642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Agency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>
                  <a:shade val="5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2A8-44FF-B9AA-9B2AB7E02908}"/>
              </c:ext>
            </c:extLst>
          </c:dPt>
          <c:dPt>
            <c:idx val="1"/>
            <c:bubble3D val="0"/>
            <c:spPr>
              <a:solidFill>
                <a:schemeClr val="accent1">
                  <a:shade val="7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2A8-44FF-B9AA-9B2AB7E02908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2A8-44FF-B9AA-9B2AB7E02908}"/>
              </c:ext>
            </c:extLst>
          </c:dPt>
          <c:dPt>
            <c:idx val="3"/>
            <c:bubble3D val="0"/>
            <c:spPr>
              <a:solidFill>
                <a:schemeClr val="accent1">
                  <a:tint val="7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2A8-44FF-B9AA-9B2AB7E02908}"/>
              </c:ext>
            </c:extLst>
          </c:dPt>
          <c:dPt>
            <c:idx val="4"/>
            <c:bubble3D val="0"/>
            <c:spPr>
              <a:solidFill>
                <a:schemeClr val="accent1">
                  <a:tint val="54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2A8-44FF-B9AA-9B2AB7E02908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rgbClr val="000000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A8-44FF-B9AA-9B2AB7E02908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rgbClr val="000000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A8-44FF-B9AA-9B2AB7E02908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rgbClr val="000000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A8-44FF-B9AA-9B2AB7E02908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rgbClr val="000000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2A8-44FF-B9AA-9B2AB7E02908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rgbClr val="000000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2A8-44FF-B9AA-9B2AB7E0290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rgbClr val="000000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BBMP</c:v>
                </c:pt>
                <c:pt idx="1">
                  <c:v>BWSSB</c:v>
                </c:pt>
                <c:pt idx="2">
                  <c:v>BTP</c:v>
                </c:pt>
                <c:pt idx="3">
                  <c:v>BCP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13400</c:v>
                </c:pt>
                <c:pt idx="1">
                  <c:v>1200</c:v>
                </c:pt>
                <c:pt idx="2">
                  <c:v>570</c:v>
                </c:pt>
                <c:pt idx="3">
                  <c:v>390</c:v>
                </c:pt>
                <c:pt idx="4">
                  <c:v>511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A8-44FF-B9AA-9B2AB7E029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64748B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0F7FA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Complaints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7383</c:v>
                </c:pt>
                <c:pt idx="1">
                  <c:v>4492</c:v>
                </c:pt>
                <c:pt idx="2">
                  <c:v>2645</c:v>
                </c:pt>
                <c:pt idx="3">
                  <c:v>1551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0A-4718-8FF9-CBC2B87E43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53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EDA covers 16,071 civic complaints submitted to Bengaluru Municipality between 2019 and 2022 via the I Change My City platform by Janaagraha. Analysis performed using Python, Pandas, Matplotlib and Seaborn.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Roads and garbage together = ~70% of all 16,071 complaints. BBMP is responsible for 83%+ of all complaints. This structural concentration means one agency handles roads, garbage AND lights — a clear overload.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79% decline from 2019 to 2022 is NOT a simple improvement story. 2020 drop is COVID-driven. Post-2020 decline may be improved services OR data incompleteness. Only 30.7% resolved vs 54.9% still open — major backlog. 2.1% re-opened = fake resolutions. Ward hotspots need targeted resource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opencity.in/dataset/i-change-my-city-data/resource/a60abf5c-3a15-4967-af32-c3074248580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Vaibhav-code15/bengaluru-municipality-issue-analysis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0"/>
            <a:ext cx="2743200" cy="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234440"/>
            <a:ext cx="2743200" cy="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011680"/>
            <a:ext cx="2743200" cy="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2788920"/>
            <a:ext cx="2743200" cy="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3566160"/>
            <a:ext cx="2743200" cy="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4343400"/>
            <a:ext cx="2743200" cy="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274320"/>
            <a:ext cx="0" cy="466344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"/>
            <a:ext cx="0" cy="466344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74320"/>
            <a:ext cx="0" cy="466344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274320"/>
            <a:ext cx="0" cy="466344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74320"/>
            <a:ext cx="0" cy="4663440"/>
          </a:xfrm>
          <a:prstGeom prst="line">
            <a:avLst/>
          </a:prstGeom>
          <a:noFill/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1463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8288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0" y="68580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685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BENGALURU  ·  2019 – 2022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66160" y="11887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Municipality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566160" y="1732790"/>
            <a:ext cx="5303520" cy="61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00" dirty="0">
                <a:solidFill>
                  <a:srgbClr val="E8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Analysis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solidFill>
                  <a:schemeClr val="bg1"/>
                </a:solidFill>
              </a:rPr>
              <a:t>Exploratory Data Analysis of Bengaluru's civic complaint dataset (2019 – 2022)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566160" y="2549770"/>
            <a:ext cx="5212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60603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16,071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566160" y="312724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19472" y="260603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</a:rPr>
              <a:t>43</a:t>
            </a:r>
          </a:p>
        </p:txBody>
      </p:sp>
      <p:sp>
        <p:nvSpPr>
          <p:cNvPr id="24" name="Text 22"/>
          <p:cNvSpPr/>
          <p:nvPr/>
        </p:nvSpPr>
        <p:spPr>
          <a:xfrm>
            <a:off x="4919472" y="312724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72784" y="260603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</a:rPr>
              <a:t>15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72784" y="312724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26096" y="260603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626096" y="312724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73194" y="4529799"/>
            <a:ext cx="5303520" cy="40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080"/>
                </a:solidFill>
              </a:rPr>
              <a:t>Data Source: OpenCity · </a:t>
            </a:r>
            <a:r>
              <a:rPr lang="en-US" sz="1000" i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data.opencity.in</a:t>
            </a:r>
            <a:r>
              <a:rPr lang="en-US" sz="1000" i="1" dirty="0">
                <a:solidFill>
                  <a:schemeClr val="bg1"/>
                </a:solidFill>
              </a:rPr>
              <a:t> </a:t>
            </a:r>
            <a:r>
              <a:rPr lang="en-US" sz="1000" i="1" dirty="0">
                <a:solidFill>
                  <a:srgbClr val="4A6080"/>
                </a:solidFill>
              </a:rPr>
              <a:t>· I Change My City - </a:t>
            </a:r>
            <a:r>
              <a:rPr lang="en-US" sz="1000" i="1" dirty="0" err="1">
                <a:solidFill>
                  <a:srgbClr val="4A6080"/>
                </a:solidFill>
              </a:rPr>
              <a:t>Janaagraha</a:t>
            </a:r>
            <a:endParaRPr lang="en-US" sz="1000" i="1" dirty="0">
              <a:solidFill>
                <a:srgbClr val="4A608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7293"/>
                </a:solidFill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Bengaluru Citizens Complaining About?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Complaint Categories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23560" y="868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 by Agency</a:t>
            </a:r>
            <a:endParaRPr lang="en-US" sz="1100" dirty="0"/>
          </a:p>
        </p:txBody>
      </p:sp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1006139105"/>
              </p:ext>
            </p:extLst>
          </p:nvPr>
        </p:nvGraphicFramePr>
        <p:xfrm>
          <a:off x="5349240" y="1188720"/>
          <a:ext cx="3629464" cy="2395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5577840" y="3703320"/>
            <a:ext cx="3337560" cy="713232"/>
          </a:xfrm>
          <a:prstGeom prst="roundRect">
            <a:avLst>
              <a:gd name="adj" fmla="val 12821"/>
            </a:avLst>
          </a:prstGeom>
          <a:solidFill>
            <a:srgbClr val="E3F2F9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715000" y="374904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b="1" dirty="0"/>
              <a:t>BBMP</a:t>
            </a:r>
            <a:r>
              <a:rPr lang="en-IN" sz="1000" dirty="0"/>
              <a:t> receives over</a:t>
            </a:r>
            <a:r>
              <a:rPr lang="en-IN" sz="1000" b="1" dirty="0"/>
              <a:t> </a:t>
            </a:r>
            <a:r>
              <a:rPr lang="en-IN" sz="1000" b="1" dirty="0">
                <a:solidFill>
                  <a:srgbClr val="FF0000"/>
                </a:solidFill>
              </a:rPr>
              <a:t>83% </a:t>
            </a:r>
            <a:r>
              <a:rPr lang="en-IN" sz="1000" dirty="0"/>
              <a:t>of all reported complaints, indicating a high concentration of municipal service requests within a single agency.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82880" y="4526280"/>
            <a:ext cx="29260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chemeClr val="bg1"/>
                </a:solidFill>
              </a:rPr>
              <a:t>🛣 </a:t>
            </a:r>
            <a:r>
              <a:rPr lang="en-IN" sz="900" dirty="0">
                <a:solidFill>
                  <a:schemeClr val="bg1"/>
                </a:solidFill>
              </a:rPr>
              <a:t>Roads &amp; Infrastructure is the largest complaint category, followed by Garbage &amp; Unsanitary Practices.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3155382" y="4526280"/>
            <a:ext cx="29260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E8F4F8"/>
                </a:solidFill>
              </a:rPr>
              <a:t>🗑 </a:t>
            </a:r>
            <a:r>
              <a:rPr lang="en-IN" sz="900" dirty="0">
                <a:solidFill>
                  <a:schemeClr val="bg1"/>
                </a:solidFill>
              </a:rPr>
              <a:t>The top two categories together account for more than half of all complaints.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6165870" y="4519246"/>
            <a:ext cx="29260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E8F4F8"/>
                </a:solidFill>
              </a:rPr>
              <a:t>💡 </a:t>
            </a:r>
            <a:r>
              <a:rPr lang="en-IN" sz="900" dirty="0">
                <a:solidFill>
                  <a:schemeClr val="bg1"/>
                </a:solidFill>
              </a:rPr>
              <a:t>Traffic &amp; Road Safety and Yellow Spot emerge as the next most reported complaint categories.</a:t>
            </a:r>
            <a:endParaRPr lang="en-US" sz="85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BE7386-F790-25B2-B9A9-652B1A6CDA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11" t="5760"/>
          <a:stretch>
            <a:fillRect/>
          </a:stretch>
        </p:blipFill>
        <p:spPr>
          <a:xfrm>
            <a:off x="214109" y="1244640"/>
            <a:ext cx="5135131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7293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Trends &amp; Key Findings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Complaint Volume (2019–2022)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207008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041648"/>
            <a:ext cx="5029200" cy="384048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041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chemeClr val="accent4">
                    <a:lumMod val="75000"/>
                  </a:schemeClr>
                </a:solidFill>
              </a:rPr>
              <a:t>⚠  </a:t>
            </a:r>
            <a:r>
              <a:rPr lang="en-IN" sz="1000" i="1" dirty="0">
                <a:solidFill>
                  <a:schemeClr val="accent4">
                    <a:lumMod val="75000"/>
                  </a:schemeClr>
                </a:solidFill>
              </a:rPr>
              <a:t>The sharpest decline occurred in 2020, coinciding with the COVID-19 lockdown period.</a:t>
            </a:r>
            <a:endParaRPr lang="en-US" sz="950" i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623560" y="868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1207008"/>
            <a:ext cx="3337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15000" y="124358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📉  79% Decline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15000" y="148132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800" dirty="0">
                <a:solidFill>
                  <a:schemeClr val="tx2"/>
                </a:solidFill>
              </a:rPr>
              <a:t>Reported complaints declined from </a:t>
            </a:r>
            <a:r>
              <a:rPr lang="en-IN" sz="800" b="1" dirty="0">
                <a:solidFill>
                  <a:schemeClr val="tx2"/>
                </a:solidFill>
              </a:rPr>
              <a:t>7,383 (2019) to 1,551 (2022)</a:t>
            </a:r>
            <a:r>
              <a:rPr lang="en-IN" sz="800" dirty="0">
                <a:solidFill>
                  <a:schemeClr val="tx2"/>
                </a:solidFill>
              </a:rPr>
              <a:t>. Additional data is needed to explain this trend. </a:t>
            </a:r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577840" y="2011680"/>
            <a:ext cx="3337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15000" y="204825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Resolution Rate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0" y="228600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54% of complaints remain </a:t>
            </a:r>
            <a:r>
              <a:rPr lang="en-US" sz="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r>
              <a:rPr lang="en-US" sz="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Only 30.7% are marked</a:t>
            </a:r>
            <a:r>
              <a:rPr lang="en-US" sz="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Resolved </a:t>
            </a:r>
            <a:r>
              <a:rPr lang="en-US" sz="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pointing to a significant backlog in complaint handling.</a:t>
            </a:r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577840" y="2816352"/>
            <a:ext cx="3337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285292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🔁  Re-opened Cases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15000" y="309067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800" dirty="0">
                <a:solidFill>
                  <a:schemeClr val="tx2"/>
                </a:solidFill>
              </a:rPr>
              <a:t>2.1% of complaints were re-opened after closure, indicating that some issues required additional attention after the initial resolution</a:t>
            </a:r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577840" y="3621024"/>
            <a:ext cx="33375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15000" y="36576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📍  Ward Hotspots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15000" y="389534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800" dirty="0">
                <a:solidFill>
                  <a:schemeClr val="tx2"/>
                </a:solidFill>
              </a:rPr>
              <a:t>Complaint activity is concentrated in a limited number of wards, highlighting priority areas for targeted municipal intervention.</a:t>
            </a:r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526280"/>
            <a:ext cx="85953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</a:rPr>
              <a:t>Analysis: Python · Pandas · Matplotlib · Seaborn     |     Full EDA available on </a:t>
            </a:r>
            <a:r>
              <a:rPr lang="en-US" sz="850" dirty="0">
                <a:solidFill>
                  <a:srgbClr val="E8F4F8"/>
                </a:solidFill>
                <a:hlinkClick r:id="rId4"/>
              </a:rPr>
              <a:t>GitHub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423</Words>
  <Application>Microsoft Office PowerPoint</Application>
  <PresentationFormat>On-screen Show (16:9)</PresentationFormat>
  <Paragraphs>53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Bengaluru Municipality Issue Analysis</dc:title>
  <dc:subject>PptxGenJS Presentation</dc:subject>
  <dc:creator>EDA Project</dc:creator>
  <cp:lastModifiedBy>Vaibhav Khandelwal</cp:lastModifiedBy>
  <cp:revision>6</cp:revision>
  <dcterms:created xsi:type="dcterms:W3CDTF">2026-06-29T04:54:03Z</dcterms:created>
  <dcterms:modified xsi:type="dcterms:W3CDTF">2026-06-29T19:20:00Z</dcterms:modified>
</cp:coreProperties>
</file>